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37160" cy="6784848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62872" y="73152"/>
            <a:ext cx="2926080" cy="6784848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2872" y="73152"/>
            <a:ext cx="54864" cy="6784848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566928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0467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Penerapan Case-Based Reasoning
Berbasis IndoBERT untuk Analisis
Putusan Pidana Pemalsuan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E83A4D"/>
                </a:solidFill>
                <a:latin typeface="Calibri"/>
              </a:rPr>
              <a:t>Tugas Akhir · Mata Kuliah Penalaran Komputer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2" y="137160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[NAMA LENGKAP ANDA]</a:t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NIM: [NIM ANDA]</a:t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Teknik Informatika</a:t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Universitas Muhammadiyah</a:t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Malang</a:t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A8B0CC"/>
                </a:solidFill>
                <a:latin typeface="Calibri"/>
              </a:rPr>
              <a:t>2025 /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8B0CC"/>
                </a:solidFill>
                <a:latin typeface="Calibri"/>
              </a:rPr>
              <a:t>UNIVERSITAS MUHAMMADIYAH MALANG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A8B0CC"/>
                </a:solidFill>
                <a:latin typeface="Calibri"/>
              </a:rPr>
              <a:t>01 / 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403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METODOLOGI — Siklus Case-Based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5720" cy="164592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8F0"/>
                </a:solidFill>
                <a:latin typeface="Calibri"/>
              </a:rPr>
              <a:t>📂 DATASET</a:t>
            </a:r>
          </a:p>
          <a:p>
            <a:pPr algn="l"/>
            <a:r>
              <a:rPr sz="1200" b="0">
                <a:solidFill>
                  <a:srgbClr val="E8E8F0"/>
                </a:solidFill>
                <a:latin typeface="Calibri"/>
              </a:rPr>
              <a:t>35 Putusan Pidana Pemalsuan</a:t>
            </a:r>
          </a:p>
          <a:p>
            <a:pPr algn="l"/>
            <a:r>
              <a:rPr sz="1200" b="0">
                <a:solidFill>
                  <a:srgbClr val="E8E8F0"/>
                </a:solidFill>
                <a:latin typeface="Calibri"/>
              </a:rPr>
              <a:t>Mahkamah Agung RI</a:t>
            </a:r>
          </a:p>
          <a:p>
            <a:pPr algn="l"/>
            <a:r>
              <a:rPr sz="1200" b="0">
                <a:solidFill>
                  <a:srgbClr val="E8E8F0"/>
                </a:solidFill>
                <a:latin typeface="Calibri"/>
              </a:rPr>
              <a:t>Pasal 263–276 KUHP</a:t>
            </a:r>
          </a:p>
          <a:p>
            <a:pPr algn="l"/>
            <a:r>
              <a:rPr sz="1200" b="0">
                <a:solidFill>
                  <a:srgbClr val="E8E8F0"/>
                </a:solidFill>
                <a:latin typeface="Calibri"/>
              </a:rPr>
              <a:t>Tahun 2008–2025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1920240" cy="25603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1920240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83A4D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Case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35 PDF → TXT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via pdfminer.six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7-step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840480"/>
            <a:ext cx="164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C01C2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2743200"/>
            <a:ext cx="1920240" cy="25603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95728" y="2743200"/>
            <a:ext cx="1920240" cy="54864"/>
          </a:xfrm>
          <a:prstGeom prst="rect">
            <a:avLst/>
          </a:prstGeom>
          <a:solidFill>
            <a:srgbClr val="8B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2852928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83A4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29184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Representasi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7490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18 atribut regex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no_perkara, vonis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ringkasan_fakta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3840480"/>
            <a:ext cx="164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C01C2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17136" y="2743200"/>
            <a:ext cx="1920240" cy="25603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7136" y="2743200"/>
            <a:ext cx="1920240" cy="54864"/>
          </a:xfrm>
          <a:prstGeom prst="rect">
            <a:avLst/>
          </a:prstGeom>
          <a:solidFill>
            <a:srgbClr val="6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2852928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83A4D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329184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7490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IndoBERT embed.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768-dim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Cosine Similarity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40480"/>
            <a:ext cx="164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C01C2E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544" y="2743200"/>
            <a:ext cx="1920240" cy="25603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38544" y="2743200"/>
            <a:ext cx="1920240" cy="54864"/>
          </a:xfrm>
          <a:prstGeom prst="rect">
            <a:avLst/>
          </a:prstGeom>
          <a:solidFill>
            <a:srgbClr val="4A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2852928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83A4D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29184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37490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Weighted Vote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Top-K=5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Prediksi vonis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40480"/>
            <a:ext cx="164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C01C2E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59952" y="2743200"/>
            <a:ext cx="1920240" cy="256032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59952" y="2743200"/>
            <a:ext cx="1920240" cy="54864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1392" y="2852928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83A4D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329184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Evaluasi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7490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Precision@K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MRR, Accuracy</a:t>
            </a:r>
          </a:p>
          <a:p>
            <a:pPr algn="ctr"/>
            <a:r>
              <a:rPr sz="1100" b="0">
                <a:solidFill>
                  <a:srgbClr val="A8B0CC"/>
                </a:solidFill>
                <a:latin typeface="Calibri"/>
              </a:rPr>
              <a:t>F1-Score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A8B0CC"/>
                </a:solidFill>
                <a:latin typeface="Calibr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403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IMPLEMENTASI — IndoBERT &amp;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303520" cy="5120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5720" cy="51206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83A4D"/>
                </a:solidFill>
                <a:latin typeface="Calibri"/>
              </a:rPr>
              <a:t>🤖  Model IndoBERT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Model ID: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002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indobenchmark/indobert-base-p1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Arsitektur: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39112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BERT-Base (12 layers, 12 heads)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Jumlah Parameter: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478024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124.441.344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Dimensi Embedding: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16936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Max Token Length: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55848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Pooling Strategy: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794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Mean Pooling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3367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Normalisasi: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233672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L2 Normalization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72584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Batch Size: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672584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11496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A8B0CC"/>
                </a:solidFill>
                <a:latin typeface="Calibri"/>
              </a:rPr>
              <a:t>Perangkat: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111496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05840"/>
            <a:ext cx="5943600" cy="5120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005840"/>
            <a:ext cx="45720" cy="51206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097280"/>
            <a:ext cx="5577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5C518"/>
                </a:solidFill>
                <a:latin typeface="Calibri"/>
              </a:rPr>
              <a:t>⚙️  Pipeline Notebook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645920"/>
            <a:ext cx="320040" cy="3200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6459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16002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3A4D"/>
                </a:solidFill>
                <a:latin typeface="Calibri"/>
              </a:rPr>
              <a:t>01_case_base.ipynb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92024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35 PDF → TXT (pdfminer.six)
7-langkah cleaning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514600"/>
            <a:ext cx="320040" cy="3200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5146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46888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3A4D"/>
                </a:solidFill>
                <a:latin typeface="Calibri"/>
              </a:rPr>
              <a:t>02_case_representation.ipynb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78892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Ekstraksi 18 atribut
dengan pola regex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383280"/>
            <a:ext cx="320040" cy="3200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3832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375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3A4D"/>
                </a:solidFill>
                <a:latin typeface="Calibri"/>
              </a:rPr>
              <a:t>03_case_retrieval.ipynb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65760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Generate embedding IndoBERT
Split 80:20 (28 train / 7 test)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51960"/>
            <a:ext cx="320040" cy="3200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2519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2062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3A4D"/>
                </a:solidFill>
                <a:latin typeface="Calibri"/>
              </a:rPr>
              <a:t>04_solution_reuse.ipynb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52628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Weighted Similarity Voting
Top-K=5 prediksi vonis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5120640"/>
            <a:ext cx="320040" cy="3200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1206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07492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83A4D"/>
                </a:solidFill>
                <a:latin typeface="Calibri"/>
              </a:rPr>
              <a:t>05_evaluation.ipynb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39496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Hitung Precision@K, MRR
Accuracy, F1, plot grafik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A8B0CC"/>
                </a:solidFill>
                <a:latin typeface="Calibr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403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HASIL &amp; EVALUASI — Performa Sistem CBR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560320" cy="137160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560320" cy="4572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71.43%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B0CC"/>
                </a:solidFill>
                <a:latin typeface="Calibri"/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005840"/>
            <a:ext cx="2560320" cy="137160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005840"/>
            <a:ext cx="2560320" cy="4572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078992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51.02%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783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B0CC"/>
                </a:solidFill>
                <a:latin typeface="Calibri"/>
              </a:rPr>
              <a:t>Precision
(weighted)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05840"/>
            <a:ext cx="2560320" cy="137160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005840"/>
            <a:ext cx="2560320" cy="4572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078992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71.43%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783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B0CC"/>
                </a:solidFill>
                <a:latin typeface="Calibri"/>
              </a:rPr>
              <a:t>Recall
(weighted)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05840"/>
            <a:ext cx="2560320" cy="137160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005840"/>
            <a:ext cx="2560320" cy="4572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078992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59.52%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7830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8B0CC"/>
                </a:solidFill>
                <a:latin typeface="Calibri"/>
              </a:rPr>
              <a:t>F1-Score
(weighted)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60320"/>
            <a:ext cx="5303520" cy="356616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45720" cy="35661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📊  Metrik Retrieval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99232"/>
            <a:ext cx="932688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44952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0744" y="2999232"/>
            <a:ext cx="932688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4" y="3044952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Precision@K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2999232"/>
            <a:ext cx="932688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3044952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Recall@K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2999232"/>
            <a:ext cx="932688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3044952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F1@K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8536" y="2999232"/>
            <a:ext cx="932688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044952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MRR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38144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483864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80744" y="3438144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80744" y="3483864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50008" y="3438144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0008" y="3483864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3438144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3483864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8536" y="3438144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3483864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877056"/>
            <a:ext cx="932688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922776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80744" y="3877056"/>
            <a:ext cx="932688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80744" y="3922776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0008" y="3877056"/>
            <a:ext cx="932688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0008" y="3922776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3877056"/>
            <a:ext cx="932688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3922776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8536" y="3877056"/>
            <a:ext cx="932688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88536" y="3922776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315968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361688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80744" y="4315968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80744" y="4361688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0.0667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50008" y="4315968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50008" y="4361688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0.1111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19272" y="4315968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19272" y="4361688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0.0833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88536" y="4315968"/>
            <a:ext cx="932688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88536" y="4361688"/>
            <a:ext cx="9326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0.0667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2560320"/>
            <a:ext cx="5943600" cy="356616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2560320"/>
            <a:ext cx="45720" cy="356616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2606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83A4D"/>
                </a:solidFill>
                <a:latin typeface="Calibri"/>
              </a:rPr>
              <a:t>📋  Classification Report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2999232"/>
            <a:ext cx="1042416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0" y="3044952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Kelas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05472" y="2999232"/>
            <a:ext cx="1042416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05472" y="3044952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84464" y="2999232"/>
            <a:ext cx="1042416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4464" y="3044952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63456" y="2999232"/>
            <a:ext cx="1042416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63456" y="3044952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42448" y="2999232"/>
            <a:ext cx="1042416" cy="438912"/>
          </a:xfrm>
          <a:prstGeom prst="rect">
            <a:avLst/>
          </a:prstGeom>
          <a:solidFill>
            <a:srgbClr val="2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42448" y="3044952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3438144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0" y="3483864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BEBAS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05472" y="3438144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05472" y="3483864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84464" y="3438144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84464" y="3483864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63456" y="3438144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63456" y="3483864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83A4D"/>
                </a:solidFill>
                <a:latin typeface="Calibri"/>
              </a:rPr>
              <a:t>0.00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42448" y="3438144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42448" y="3483864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26480" y="3877056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922776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PENJARA_LAIN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05472" y="3877056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05472" y="3922776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5C518"/>
                </a:solidFill>
                <a:latin typeface="Calibri"/>
              </a:rPr>
              <a:t>0.71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84464" y="3877056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84464" y="3922776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5C518"/>
                </a:solidFill>
                <a:latin typeface="Calibri"/>
              </a:rPr>
              <a:t>1.00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63456" y="3877056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63456" y="3922776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5C518"/>
                </a:solidFill>
                <a:latin typeface="Calibri"/>
              </a:rPr>
              <a:t>0.83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442448" y="3877056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42448" y="3922776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26480" y="4315968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6480" y="4361688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Macro avg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205472" y="4315968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05472" y="4361688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0.36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84464" y="4315968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84464" y="4361688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63456" y="4315968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63456" y="4361688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0.42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42448" y="4315968"/>
            <a:ext cx="1042416" cy="438912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42448" y="4361688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26480" y="4754880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26480" y="4800600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Weighted avg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05472" y="4754880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05472" y="4800600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84464" y="4754880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84464" y="4800600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0.71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363456" y="4754880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363456" y="4800600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0.60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442448" y="4754880"/>
            <a:ext cx="1042416" cy="438912"/>
          </a:xfrm>
          <a:prstGeom prst="rect">
            <a:avLst/>
          </a:prstGeom>
          <a:solidFill>
            <a:srgbClr val="1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442448" y="4800600"/>
            <a:ext cx="1042416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pic>
        <p:nvPicPr>
          <p:cNvPr id="118" name="Picture 117" descr="evaluat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480560"/>
            <a:ext cx="5943600" cy="224028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A8B0CC"/>
                </a:solidFill>
                <a:latin typeface="Calibr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403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DISKUSI &amp; 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120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5720" cy="5120640"/>
          </a:xfrm>
          <a:prstGeom prst="rect">
            <a:avLst/>
          </a:prstGeom>
          <a:solidFill>
            <a:srgbClr val="C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83A4D"/>
                </a:solidFill>
                <a:latin typeface="Calibri"/>
              </a:rPr>
              <a:t>⚠️  Keterbatasan &amp; Analisis Kegagalan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Class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BEBAS recall = 0,00. Weighted voting
prediksi mayoritas (PENJARA_LAIN).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Ekstraksi Vonis 17,1%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Hanya 6/35 vonis berhasil diekstrak.
Variasi formulasi putusan sangat beragam.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Dataset Kecil (35 dok.)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28 training cases tidak cukup untuk
mewakili variasi kasus pemalsuan.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23944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⚙️ Revise &amp;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71416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Belum diimplementasikan sesuai
siklus CBR klasik Aamodt &amp; Plaza.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5192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📉 Retrieval MRR=0,0667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12664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A8B0CC"/>
                </a:solidFill>
                <a:latin typeface="Calibri"/>
              </a:rPr>
              <a:t>Ground truth berbasis pasal terlalu
simplistis; relevansi lebih kompleks.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005840"/>
            <a:ext cx="5806440" cy="5120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005840"/>
            <a:ext cx="45720" cy="51206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097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✅  Kesimpulan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087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• Sistem CBR berhasil diimplementasikan end-to-end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• Akurasi prediksi 71,43% — performa moderat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• Recall 100% untuk PENJARA_LAIN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• MRR@5 = 0,0667 — perlu peningkatan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632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🔮  Rekomendasi Penelitian Lanjutan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4747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1. Augmentasi dataset → ≥100 dokumen putusan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2. Fine-tuning IndoBERT pada korpus hukum ID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3. Hybrid retrieval: BM25 + IndoBERT embedding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4. Constraint-based filter (kecocokan pasal)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5. Implementasi tahap Revise &amp; Retain</a:t>
            </a:r>
          </a:p>
          <a:p>
            <a:pPr algn="l"/>
            <a:r>
              <a:rPr sz="1100" b="0">
                <a:solidFill>
                  <a:srgbClr val="E8E8F0"/>
                </a:solidFill>
                <a:latin typeface="Calibri"/>
              </a:rPr>
              <a:t>6. Confidence threshold untuk prediksi tidak pasti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A8B0CC"/>
                </a:solidFill>
                <a:latin typeface="Calibr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